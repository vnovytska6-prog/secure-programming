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382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17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2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473041" y="204208"/>
            <a:ext cx="11170593" cy="68026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24" y="1978193"/>
            <a:ext cx="3333750" cy="3333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0461" y="1426784"/>
            <a:ext cx="4486275" cy="13601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8586" y="1830555"/>
            <a:ext cx="666750" cy="666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9561" y="2011530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3418" y="2880063"/>
            <a:ext cx="4486274" cy="136014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1543" y="3226684"/>
            <a:ext cx="666750" cy="666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1568" y="3407659"/>
            <a:ext cx="2667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4749" y="4234052"/>
            <a:ext cx="4486275" cy="136014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22874" y="4580673"/>
            <a:ext cx="666750" cy="666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4799" y="4761648"/>
            <a:ext cx="3429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63665" y="5573995"/>
            <a:ext cx="4486274" cy="136014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01790" y="5920615"/>
            <a:ext cx="666750" cy="6667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44665" y="6101590"/>
            <a:ext cx="381000" cy="3048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-2262702" y="585208"/>
            <a:ext cx="16642080" cy="714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47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Criteria &amp; Weighting Model</a:t>
            </a:r>
            <a:endParaRPr lang="en-US" sz="4200" dirty="0"/>
          </a:p>
        </p:txBody>
      </p:sp>
      <p:sp>
        <p:nvSpPr>
          <p:cNvPr id="19" name="Text 1"/>
          <p:cNvSpPr/>
          <p:nvPr/>
        </p:nvSpPr>
        <p:spPr>
          <a:xfrm>
            <a:off x="4832834" y="1674434"/>
            <a:ext cx="452628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Technical Severity</a:t>
            </a:r>
            <a:endParaRPr lang="en-US" sz="1650" dirty="0"/>
          </a:p>
        </p:txBody>
      </p:sp>
      <p:sp>
        <p:nvSpPr>
          <p:cNvPr id="20" name="Text 2"/>
          <p:cNvSpPr/>
          <p:nvPr/>
        </p:nvSpPr>
        <p:spPr>
          <a:xfrm>
            <a:off x="6043461" y="1979234"/>
            <a:ext cx="2013496" cy="6799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Measures the inherent risk and technical depth of the vulnerability.</a:t>
            </a:r>
            <a:endParaRPr lang="en-US" sz="1275" dirty="0"/>
          </a:p>
        </p:txBody>
      </p:sp>
      <p:sp>
        <p:nvSpPr>
          <p:cNvPr id="21" name="Text 3"/>
          <p:cNvSpPr/>
          <p:nvPr/>
        </p:nvSpPr>
        <p:spPr>
          <a:xfrm>
            <a:off x="7563651" y="1978193"/>
            <a:ext cx="158496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30%</a:t>
            </a:r>
            <a:endParaRPr lang="en-US" sz="2400" dirty="0"/>
          </a:p>
        </p:txBody>
      </p:sp>
      <p:sp>
        <p:nvSpPr>
          <p:cNvPr id="22" name="Text 4"/>
          <p:cNvSpPr/>
          <p:nvPr/>
        </p:nvSpPr>
        <p:spPr>
          <a:xfrm>
            <a:off x="6674330" y="3070563"/>
            <a:ext cx="50292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Ease of Exploitation</a:t>
            </a:r>
            <a:endParaRPr lang="en-US" sz="1650" dirty="0"/>
          </a:p>
        </p:txBody>
      </p:sp>
      <p:sp>
        <p:nvSpPr>
          <p:cNvPr id="23" name="Text 5"/>
          <p:cNvSpPr/>
          <p:nvPr/>
        </p:nvSpPr>
        <p:spPr>
          <a:xfrm>
            <a:off x="8136418" y="3375363"/>
            <a:ext cx="2013496" cy="6799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Evaluates the speed with which an attacker can successfully exploit a flaw.
</a:t>
            </a:r>
            <a:endParaRPr lang="en-US" sz="1275" dirty="0"/>
          </a:p>
        </p:txBody>
      </p:sp>
      <p:sp>
        <p:nvSpPr>
          <p:cNvPr id="24" name="Text 6"/>
          <p:cNvSpPr/>
          <p:nvPr/>
        </p:nvSpPr>
        <p:spPr>
          <a:xfrm>
            <a:off x="9656607" y="3374321"/>
            <a:ext cx="158496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25%</a:t>
            </a:r>
            <a:endParaRPr lang="en-US" sz="2400" dirty="0"/>
          </a:p>
        </p:txBody>
      </p:sp>
      <p:sp>
        <p:nvSpPr>
          <p:cNvPr id="25" name="Text 7"/>
          <p:cNvSpPr/>
          <p:nvPr/>
        </p:nvSpPr>
        <p:spPr>
          <a:xfrm>
            <a:off x="5294312" y="4424552"/>
            <a:ext cx="37719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Business Impact</a:t>
            </a:r>
            <a:endParaRPr lang="en-US" sz="1650" dirty="0"/>
          </a:p>
        </p:txBody>
      </p:sp>
      <p:sp>
        <p:nvSpPr>
          <p:cNvPr id="26" name="Text 8"/>
          <p:cNvSpPr/>
          <p:nvPr/>
        </p:nvSpPr>
        <p:spPr>
          <a:xfrm>
            <a:off x="6127749" y="4729352"/>
            <a:ext cx="2265462" cy="6799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Evaluates the potential damage to business effect on operations, data, network</a:t>
            </a:r>
            <a:endParaRPr lang="en-US" sz="1275" dirty="0"/>
          </a:p>
        </p:txBody>
      </p:sp>
      <p:sp>
        <p:nvSpPr>
          <p:cNvPr id="27" name="Text 9"/>
          <p:cNvSpPr/>
          <p:nvPr/>
        </p:nvSpPr>
        <p:spPr>
          <a:xfrm>
            <a:off x="7647939" y="4728310"/>
            <a:ext cx="158496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25%</a:t>
            </a:r>
            <a:endParaRPr lang="en-US" sz="2400" dirty="0"/>
          </a:p>
        </p:txBody>
      </p:sp>
      <p:sp>
        <p:nvSpPr>
          <p:cNvPr id="28" name="Text 10"/>
          <p:cNvSpPr/>
          <p:nvPr/>
        </p:nvSpPr>
        <p:spPr>
          <a:xfrm>
            <a:off x="7121767" y="5764495"/>
            <a:ext cx="42748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Programming Error</a:t>
            </a:r>
            <a:endParaRPr lang="en-US" sz="1650" dirty="0"/>
          </a:p>
        </p:txBody>
      </p:sp>
      <p:sp>
        <p:nvSpPr>
          <p:cNvPr id="29" name="Text 11"/>
          <p:cNvSpPr/>
          <p:nvPr/>
        </p:nvSpPr>
        <p:spPr>
          <a:xfrm>
            <a:off x="8206665" y="6069295"/>
            <a:ext cx="2013496" cy="6799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Identifies the specific coding or logic failure that caused the breach.</a:t>
            </a:r>
            <a:endParaRPr lang="en-US" sz="1275" dirty="0"/>
          </a:p>
        </p:txBody>
      </p:sp>
      <p:sp>
        <p:nvSpPr>
          <p:cNvPr id="30" name="Text 12"/>
          <p:cNvSpPr/>
          <p:nvPr/>
        </p:nvSpPr>
        <p:spPr>
          <a:xfrm>
            <a:off x="9726854" y="6068253"/>
            <a:ext cx="158496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20%</a:t>
            </a:r>
            <a:endParaRPr lang="en-US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9BF8C5-E54E-7BD5-548D-28A7FD690306}"/>
              </a:ext>
            </a:extLst>
          </p:cNvPr>
          <p:cNvSpPr txBox="1"/>
          <p:nvPr/>
        </p:nvSpPr>
        <p:spPr>
          <a:xfrm>
            <a:off x="538516" y="6165601"/>
            <a:ext cx="4192419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Author: Viktoriia Novytska (20117968)</a:t>
            </a:r>
          </a:p>
          <a:p>
            <a:pPr marL="0" indent="0" algn="ctr">
              <a:lnSpc>
                <a:spcPts val="15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Computer Science course </a:t>
            </a:r>
          </a:p>
          <a:p>
            <a:pPr marL="0" indent="0" algn="ctr">
              <a:lnSpc>
                <a:spcPts val="15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Forensics &amp; Security Stream</a:t>
            </a:r>
            <a:endParaRPr lang="ru-UA" sz="16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46907"/>
            <a:ext cx="5238750" cy="534531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866007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4675882"/>
            <a:ext cx="4476750" cy="1714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0" y="1446907"/>
            <a:ext cx="5238750" cy="534531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0" y="1866007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0" y="4371082"/>
            <a:ext cx="4476750" cy="17145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1500" y="446782"/>
            <a:ext cx="12801600" cy="714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D47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Overview of Breaches</a:t>
            </a:r>
            <a:endParaRPr lang="en-US" sz="4200" dirty="0"/>
          </a:p>
        </p:txBody>
      </p:sp>
      <p:sp>
        <p:nvSpPr>
          <p:cNvPr id="11" name="Text 1"/>
          <p:cNvSpPr/>
          <p:nvPr/>
        </p:nvSpPr>
        <p:spPr>
          <a:xfrm>
            <a:off x="952500" y="2475607"/>
            <a:ext cx="874776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5E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Ivanti VPN (2023–2024)</a:t>
            </a:r>
            <a:endParaRPr lang="en-US" sz="2100" dirty="0"/>
          </a:p>
        </p:txBody>
      </p:sp>
      <p:sp>
        <p:nvSpPr>
          <p:cNvPr id="12" name="Text 2"/>
          <p:cNvSpPr/>
          <p:nvPr/>
        </p:nvSpPr>
        <p:spPr>
          <a:xfrm>
            <a:off x="1238250" y="2980432"/>
            <a:ext cx="41910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VPN software vulnerabilities (CVE-2023-46805, etc.)</a:t>
            </a:r>
            <a:endParaRPr lang="en-US" sz="1500" dirty="0"/>
          </a:p>
        </p:txBody>
      </p:sp>
      <p:sp>
        <p:nvSpPr>
          <p:cNvPr id="13" name="Text 3"/>
          <p:cNvSpPr/>
          <p:nvPr/>
        </p:nvSpPr>
        <p:spPr>
          <a:xfrm>
            <a:off x="1238250" y="3732907"/>
            <a:ext cx="813232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Privilege escalation via driver issues</a:t>
            </a:r>
            <a:endParaRPr lang="en-US" sz="1500" dirty="0"/>
          </a:p>
        </p:txBody>
      </p:sp>
      <p:sp>
        <p:nvSpPr>
          <p:cNvPr id="14" name="Text 4"/>
          <p:cNvSpPr/>
          <p:nvPr/>
        </p:nvSpPr>
        <p:spPr>
          <a:xfrm>
            <a:off x="1238250" y="4180582"/>
            <a:ext cx="791831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Affected corporate networks worldwide</a:t>
            </a:r>
            <a:endParaRPr lang="en-US" sz="1500" dirty="0"/>
          </a:p>
        </p:txBody>
      </p:sp>
      <p:sp>
        <p:nvSpPr>
          <p:cNvPr id="15" name="Text 5"/>
          <p:cNvSpPr/>
          <p:nvPr/>
        </p:nvSpPr>
        <p:spPr>
          <a:xfrm>
            <a:off x="6762750" y="2475607"/>
            <a:ext cx="1077468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5E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HP LaserJet Printers (Feb 2025)</a:t>
            </a:r>
            <a:endParaRPr lang="en-US" sz="2100" dirty="0"/>
          </a:p>
        </p:txBody>
      </p:sp>
      <p:sp>
        <p:nvSpPr>
          <p:cNvPr id="16" name="Text 6"/>
          <p:cNvSpPr/>
          <p:nvPr/>
        </p:nvSpPr>
        <p:spPr>
          <a:xfrm>
            <a:off x="7048500" y="2980432"/>
            <a:ext cx="1070042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Stack-based buffer overflow (CVE-2025-26506)</a:t>
            </a:r>
            <a:endParaRPr lang="en-US" sz="1500" dirty="0"/>
          </a:p>
        </p:txBody>
      </p:sp>
      <p:sp>
        <p:nvSpPr>
          <p:cNvPr id="17" name="Text 7"/>
          <p:cNvSpPr/>
          <p:nvPr/>
        </p:nvSpPr>
        <p:spPr>
          <a:xfrm>
            <a:off x="7048500" y="3428107"/>
            <a:ext cx="877434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Remote code execution via PostScript jobs</a:t>
            </a:r>
            <a:endParaRPr lang="en-US" sz="1500" dirty="0"/>
          </a:p>
        </p:txBody>
      </p:sp>
      <p:sp>
        <p:nvSpPr>
          <p:cNvPr id="18" name="Text 8"/>
          <p:cNvSpPr/>
          <p:nvPr/>
        </p:nvSpPr>
        <p:spPr>
          <a:xfrm>
            <a:off x="7048500" y="3875782"/>
            <a:ext cx="898835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Affected Pro, Enterprise, Managed printers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2214414"/>
            <a:ext cx="5238750" cy="3810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71500" y="762000"/>
            <a:ext cx="25603200" cy="714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D47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HP Printer Vulnerability – What Happened</a:t>
            </a:r>
            <a:endParaRPr lang="en-US" sz="4200" dirty="0"/>
          </a:p>
        </p:txBody>
      </p:sp>
      <p:sp>
        <p:nvSpPr>
          <p:cNvPr id="6" name="Text 1"/>
          <p:cNvSpPr/>
          <p:nvPr/>
        </p:nvSpPr>
        <p:spPr>
          <a:xfrm>
            <a:off x="857250" y="3409801"/>
            <a:ext cx="1087858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Announced:</a:t>
            </a: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Feb 2025 by HP (HP Security, 2025)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857250" y="3857476"/>
            <a:ext cx="1080654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CVE-2025-26506:</a:t>
            </a: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Allows remote code execution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857250" y="4305151"/>
            <a:ext cx="907749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Authentication:</a:t>
            </a: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No authentication required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857250" y="4752826"/>
            <a:ext cx="1080654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Target:</a:t>
            </a: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LaserJet Pro, Enterprise, &amp; Managed series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90626"/>
            <a:ext cx="5238750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14551"/>
            <a:ext cx="5238750" cy="685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38476"/>
            <a:ext cx="5238750" cy="685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162401"/>
            <a:ext cx="5238750" cy="685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0" y="2214414"/>
            <a:ext cx="5238750" cy="3810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0" y="3014514"/>
            <a:ext cx="66675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8625" y="4652814"/>
            <a:ext cx="190500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7625" y="4938564"/>
            <a:ext cx="2667000" cy="28575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571500" y="762000"/>
            <a:ext cx="13441680" cy="714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D47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 the Breach Worked</a:t>
            </a:r>
            <a:endParaRPr lang="en-US" sz="4200" dirty="0"/>
          </a:p>
        </p:txBody>
      </p:sp>
      <p:sp>
        <p:nvSpPr>
          <p:cNvPr id="13" name="Text 1"/>
          <p:cNvSpPr/>
          <p:nvPr/>
        </p:nvSpPr>
        <p:spPr>
          <a:xfrm>
            <a:off x="1143000" y="2390626"/>
            <a:ext cx="10158153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Stack-based buffer overflow</a:t>
            </a: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 PostScript processing</a:t>
            </a:r>
            <a:endParaRPr lang="en-US" sz="1500" dirty="0"/>
          </a:p>
        </p:txBody>
      </p:sp>
      <p:sp>
        <p:nvSpPr>
          <p:cNvPr id="14" name="Text 2"/>
          <p:cNvSpPr/>
          <p:nvPr/>
        </p:nvSpPr>
        <p:spPr>
          <a:xfrm>
            <a:off x="1143000" y="3314551"/>
            <a:ext cx="976745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Firmware didn’t check </a:t>
            </a:r>
            <a:r>
              <a:rPr lang="en-US" sz="150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input size</a:t>
            </a: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memory overflow</a:t>
            </a:r>
            <a:endParaRPr lang="en-US" sz="1500" dirty="0"/>
          </a:p>
        </p:txBody>
      </p:sp>
      <p:sp>
        <p:nvSpPr>
          <p:cNvPr id="15" name="Text 3"/>
          <p:cNvSpPr/>
          <p:nvPr/>
        </p:nvSpPr>
        <p:spPr>
          <a:xfrm>
            <a:off x="1143000" y="4238476"/>
            <a:ext cx="8790709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Overwrites </a:t>
            </a:r>
            <a:r>
              <a:rPr lang="en-US" sz="150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function pointers</a:t>
            </a: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code execution</a:t>
            </a:r>
            <a:endParaRPr lang="en-US" sz="1500" dirty="0"/>
          </a:p>
        </p:txBody>
      </p:sp>
      <p:sp>
        <p:nvSpPr>
          <p:cNvPr id="16" name="Text 4"/>
          <p:cNvSpPr/>
          <p:nvPr/>
        </p:nvSpPr>
        <p:spPr>
          <a:xfrm>
            <a:off x="1143000" y="5162401"/>
            <a:ext cx="957210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Exploited over </a:t>
            </a:r>
            <a:r>
              <a:rPr lang="en-US" sz="150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network</a:t>
            </a: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(anyone sending print job)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6486525" y="4157514"/>
            <a:ext cx="5029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Buffer Overflow Schema</a:t>
            </a:r>
            <a:endParaRPr lang="en-US" sz="1500" dirty="0"/>
          </a:p>
        </p:txBody>
      </p:sp>
      <p:sp>
        <p:nvSpPr>
          <p:cNvPr id="18" name="Text 6"/>
          <p:cNvSpPr/>
          <p:nvPr/>
        </p:nvSpPr>
        <p:spPr>
          <a:xfrm>
            <a:off x="8048625" y="4652814"/>
            <a:ext cx="19050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Buffer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7667625" y="4938564"/>
            <a:ext cx="26670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OVERFLOW DATA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2214414"/>
            <a:ext cx="5238750" cy="3810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71500" y="762000"/>
            <a:ext cx="16002000" cy="714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D47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Consequences &amp; Root Cause</a:t>
            </a:r>
            <a:endParaRPr lang="en-US" sz="4200" dirty="0"/>
          </a:p>
        </p:txBody>
      </p:sp>
      <p:sp>
        <p:nvSpPr>
          <p:cNvPr id="6" name="Text 1"/>
          <p:cNvSpPr/>
          <p:nvPr/>
        </p:nvSpPr>
        <p:spPr>
          <a:xfrm>
            <a:off x="571500" y="2265908"/>
            <a:ext cx="523875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5E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Business Impact</a:t>
            </a:r>
            <a:endParaRPr lang="en-US" sz="2100" dirty="0"/>
          </a:p>
        </p:txBody>
      </p:sp>
      <p:sp>
        <p:nvSpPr>
          <p:cNvPr id="7" name="Text 2"/>
          <p:cNvSpPr/>
          <p:nvPr/>
        </p:nvSpPr>
        <p:spPr>
          <a:xfrm>
            <a:off x="857250" y="2770733"/>
            <a:ext cx="51871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Complete device takeover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857250" y="3218408"/>
            <a:ext cx="561940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Lost services and downtime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857250" y="3666083"/>
            <a:ext cx="561940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Leaked sensitive documents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571500" y="4256633"/>
            <a:ext cx="544068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5E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Programming Error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857250" y="4761458"/>
            <a:ext cx="497101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Missing bounds checking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57250" y="5209133"/>
            <a:ext cx="540327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Unsafe fixed-size buffers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857250" y="5656808"/>
            <a:ext cx="886136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Poor input validation &amp; memory management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90626"/>
            <a:ext cx="5238750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14551"/>
            <a:ext cx="5238750" cy="685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38476"/>
            <a:ext cx="5238750" cy="685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162401"/>
            <a:ext cx="5238750" cy="685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0" y="2214414"/>
            <a:ext cx="5238750" cy="38100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571500" y="762000"/>
            <a:ext cx="16642080" cy="714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D47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Prevention &amp; Secure Coding</a:t>
            </a:r>
            <a:endParaRPr lang="en-US" sz="4200" dirty="0"/>
          </a:p>
        </p:txBody>
      </p:sp>
      <p:sp>
        <p:nvSpPr>
          <p:cNvPr id="10" name="Text 1"/>
          <p:cNvSpPr/>
          <p:nvPr/>
        </p:nvSpPr>
        <p:spPr>
          <a:xfrm>
            <a:off x="1143000" y="2390626"/>
            <a:ext cx="10158153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Secure coding:</a:t>
            </a: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validate inputs, avoid unsafe buffers</a:t>
            </a:r>
            <a:endParaRPr lang="en-US" sz="1500" dirty="0"/>
          </a:p>
        </p:txBody>
      </p:sp>
      <p:sp>
        <p:nvSpPr>
          <p:cNvPr id="11" name="Text 2"/>
          <p:cNvSpPr/>
          <p:nvPr/>
        </p:nvSpPr>
        <p:spPr>
          <a:xfrm>
            <a:off x="1143000" y="3314551"/>
            <a:ext cx="761861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Regular </a:t>
            </a:r>
            <a:r>
              <a:rPr lang="en-US" sz="150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code reviews</a:t>
            </a: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&amp; security testing</a:t>
            </a:r>
            <a:endParaRPr lang="en-US" sz="1500" dirty="0"/>
          </a:p>
        </p:txBody>
      </p:sp>
      <p:sp>
        <p:nvSpPr>
          <p:cNvPr id="12" name="Text 3"/>
          <p:cNvSpPr/>
          <p:nvPr/>
        </p:nvSpPr>
        <p:spPr>
          <a:xfrm>
            <a:off x="1143000" y="4238476"/>
            <a:ext cx="5665124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Timely </a:t>
            </a:r>
            <a:r>
              <a:rPr lang="en-US" sz="150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firmware/patch</a:t>
            </a: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updates</a:t>
            </a:r>
            <a:endParaRPr lang="en-US" sz="1500" dirty="0"/>
          </a:p>
        </p:txBody>
      </p:sp>
      <p:sp>
        <p:nvSpPr>
          <p:cNvPr id="13" name="Text 4"/>
          <p:cNvSpPr/>
          <p:nvPr/>
        </p:nvSpPr>
        <p:spPr>
          <a:xfrm>
            <a:off x="1143000" y="5162401"/>
            <a:ext cx="7032567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D47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Network segmentation</a:t>
            </a:r>
            <a:r>
              <a:rPr lang="en-US" sz="1500" dirty="0">
                <a:solidFill>
                  <a:srgbClr val="3747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limit damage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279</Words>
  <Application>Microsoft Office PowerPoint</Application>
  <PresentationFormat>Widescreen</PresentationFormat>
  <Paragraphs>58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Lato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(20117968) Viktoriia Novytska</cp:lastModifiedBy>
  <cp:revision>3</cp:revision>
  <dcterms:created xsi:type="dcterms:W3CDTF">2026-02-11T19:48:03Z</dcterms:created>
  <dcterms:modified xsi:type="dcterms:W3CDTF">2026-02-11T19:56:27Z</dcterms:modified>
</cp:coreProperties>
</file>